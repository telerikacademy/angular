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300" r:id="rId6"/>
    <p:sldId id="301" r:id="rId7"/>
    <p:sldId id="302" r:id="rId8"/>
    <p:sldId id="303" r:id="rId9"/>
    <p:sldId id="304" r:id="rId10"/>
    <p:sldId id="305" r:id="rId11"/>
    <p:sldId id="306" r:id="rId12"/>
    <p:sldId id="291" r:id="rId13"/>
    <p:sldId id="271" r:id="rId14"/>
    <p:sldId id="307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1" autoAdjust="0"/>
    <p:restoredTop sz="94660"/>
  </p:normalViewPr>
  <p:slideViewPr>
    <p:cSldViewPr snapToGrid="0">
      <p:cViewPr varScale="1">
        <p:scale>
          <a:sx n="89" d="100"/>
          <a:sy n="89" d="100"/>
        </p:scale>
        <p:origin x="117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588359-502C-4A19-8FC1-82D36C7BB478}" type="datetimeFigureOut">
              <a:rPr lang="en-US" smtClean="0"/>
              <a:t>12/9/2015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7A1D7B-5991-461F-B543-E84EBE4C25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98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dirty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C761228-E441-4146-B158-4F709CB5EED9}" type="slidenum">
              <a:rPr lang="en-US"/>
              <a:pPr/>
              <a:t>12</a:t>
            </a:fld>
            <a:r>
              <a:rPr lang="en-US" dirty="0"/>
              <a:t>##</a:t>
            </a:r>
          </a:p>
        </p:txBody>
      </p:sp>
      <p:sp>
        <p:nvSpPr>
          <p:cNvPr id="435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5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7947457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dirty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6CA27F0-F98F-4030-AB22-9BA0D7A117D7}" type="slidenum">
              <a:rPr lang="en-US"/>
              <a:pPr/>
              <a:t>14</a:t>
            </a:fld>
            <a:r>
              <a:rPr lang="en-US" dirty="0"/>
              <a:t>##</a:t>
            </a:r>
          </a:p>
        </p:txBody>
      </p:sp>
      <p:sp>
        <p:nvSpPr>
          <p:cNvPr id="427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27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075129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hyperlink" Target="http://mvccourse.telerik.com/" TargetMode="External"/><Relationship Id="rId13" Type="http://schemas.openxmlformats.org/officeDocument/2006/relationships/hyperlink" Target="http://algoacademy.telerik.com/" TargetMode="External"/><Relationship Id="rId18" Type="http://schemas.openxmlformats.org/officeDocument/2006/relationships/hyperlink" Target="http://www.minkov.it/" TargetMode="External"/><Relationship Id="rId3" Type="http://schemas.openxmlformats.org/officeDocument/2006/relationships/hyperlink" Target="http://kursove-uroci-knigi-obuchenie-programirane-web-design-csharp.info/" TargetMode="External"/><Relationship Id="rId7" Type="http://schemas.openxmlformats.org/officeDocument/2006/relationships/hyperlink" Target="http://schoolacademy.telerik.com/" TargetMode="External"/><Relationship Id="rId12" Type="http://schemas.openxmlformats.org/officeDocument/2006/relationships/hyperlink" Target="http://codecourse.telerik.com/" TargetMode="External"/><Relationship Id="rId17" Type="http://schemas.openxmlformats.org/officeDocument/2006/relationships/hyperlink" Target="http://www.introprogramming.info/" TargetMode="External"/><Relationship Id="rId2" Type="http://schemas.openxmlformats.org/officeDocument/2006/relationships/hyperlink" Target="http://forums.academy.telerik.com/" TargetMode="External"/><Relationship Id="rId16" Type="http://schemas.openxmlformats.org/officeDocument/2006/relationships/hyperlink" Target="http://mobiledevcourse.telerik.com/" TargetMode="External"/><Relationship Id="rId20" Type="http://schemas.openxmlformats.org/officeDocument/2006/relationships/hyperlink" Target="http://csharpfundamentals.telerik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html5course.telerik.com/" TargetMode="External"/><Relationship Id="rId11" Type="http://schemas.openxmlformats.org/officeDocument/2006/relationships/hyperlink" Target="http://www.nakov.com/" TargetMode="External"/><Relationship Id="rId5" Type="http://schemas.openxmlformats.org/officeDocument/2006/relationships/hyperlink" Target="http://seocourse.telerik.com/" TargetMode="External"/><Relationship Id="rId15" Type="http://schemas.openxmlformats.org/officeDocument/2006/relationships/hyperlink" Target="http://academy.telerik.com/" TargetMode="External"/><Relationship Id="rId10" Type="http://schemas.openxmlformats.org/officeDocument/2006/relationships/hyperlink" Target="http://www.bgcoder.com/" TargetMode="External"/><Relationship Id="rId19" Type="http://schemas.openxmlformats.org/officeDocument/2006/relationships/hyperlink" Target="http://www.nikolay.it/" TargetMode="External"/><Relationship Id="rId4" Type="http://schemas.openxmlformats.org/officeDocument/2006/relationships/hyperlink" Target="http://www.telerik-kids.com/" TargetMode="External"/><Relationship Id="rId9" Type="http://schemas.openxmlformats.org/officeDocument/2006/relationships/hyperlink" Target="http://clouddevcourse.telerik.com/" TargetMode="External"/><Relationship Id="rId14" Type="http://schemas.openxmlformats.org/officeDocument/2006/relationships/hyperlink" Target="http://aspnetcourse.telerik.com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8"/>
          <p:cNvSpPr>
            <a:spLocks noGrp="1"/>
          </p:cNvSpPr>
          <p:nvPr>
            <p:ph type="ctrTitle" hasCustomPrompt="1"/>
          </p:nvPr>
        </p:nvSpPr>
        <p:spPr>
          <a:xfrm>
            <a:off x="457200" y="1524000"/>
            <a:ext cx="8229600" cy="1524000"/>
          </a:xfrm>
          <a:prstGeom prst="rect">
            <a:avLst/>
          </a:prstGeom>
        </p:spPr>
        <p:txBody>
          <a:bodyPr tIns="0" bIns="0" anchor="b" anchorCtr="0"/>
          <a:lstStyle>
            <a:lvl1pPr algn="r">
              <a:lnSpc>
                <a:spcPts val="5600"/>
              </a:lnSpc>
              <a:defRPr sz="5400" cap="none" baseline="0">
                <a:solidFill>
                  <a:srgbClr val="D4FF5B"/>
                </a:solidFill>
                <a:effectLst>
                  <a:outerShdw blurRad="30000" dist="30000" dir="2700000" algn="tl" rotWithShape="0">
                    <a:schemeClr val="bg2">
                      <a:shade val="45000"/>
                      <a:satMod val="150000"/>
                      <a:alpha val="90000"/>
                    </a:schemeClr>
                  </a:outerShdw>
                  <a:reflection blurRad="120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Presentation Title</a:t>
            </a:r>
            <a:endParaRPr lang="en-US" dirty="0"/>
          </a:p>
        </p:txBody>
      </p:sp>
      <p:sp>
        <p:nvSpPr>
          <p:cNvPr id="7" name="Subtitle 16"/>
          <p:cNvSpPr>
            <a:spLocks noGrp="1"/>
          </p:cNvSpPr>
          <p:nvPr>
            <p:ph type="subTitle" idx="1" hasCustomPrompt="1"/>
          </p:nvPr>
        </p:nvSpPr>
        <p:spPr>
          <a:xfrm>
            <a:off x="457200" y="3240880"/>
            <a:ext cx="8229600" cy="569120"/>
          </a:xfrm>
          <a:prstGeom prst="rect">
            <a:avLst/>
          </a:prstGeom>
        </p:spPr>
        <p:txBody>
          <a:bodyPr lIns="90000" tIns="0" rIns="90000" bIns="0" anchor="ctr" anchorCtr="0"/>
          <a:lstStyle>
            <a:lvl1pPr marL="0" indent="0" algn="r">
              <a:buNone/>
              <a:defRPr sz="2800">
                <a:solidFill>
                  <a:srgbClr val="FAF8C8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 smtClean="0"/>
              <a:t>Presentation Subtitle</a:t>
            </a:r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2667000" y="4114800"/>
            <a:ext cx="6248400" cy="0"/>
          </a:xfrm>
          <a:prstGeom prst="line">
            <a:avLst/>
          </a:prstGeom>
          <a:ln w="38100" cap="rnd">
            <a:solidFill>
              <a:schemeClr val="accent5">
                <a:lumMod val="20000"/>
                <a:lumOff val="80000"/>
                <a:alpha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44500" y="4572000"/>
            <a:ext cx="3352800" cy="533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2800" b="1" kern="1200" dirty="0" smtClean="0">
                <a:solidFill>
                  <a:srgbClr val="DEFF9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Author Name</a:t>
            </a:r>
            <a:endParaRPr lang="en-US" dirty="0"/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5833646"/>
            <a:ext cx="335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1800" b="1" kern="1200" dirty="0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marL="319088" lvl="0" indent="-319088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1800" b="1" dirty="0" smtClean="0">
                <a:solidFill>
                  <a:srgbClr val="0EFE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Company Name</a:t>
            </a:r>
            <a:endParaRPr lang="en-US" sz="1800" b="1" dirty="0">
              <a:solidFill>
                <a:srgbClr val="0EFE5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6138446"/>
            <a:ext cx="3352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1600" b="1" kern="1200" dirty="0" smtClean="0">
                <a:solidFill>
                  <a:srgbClr val="0EFE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algn="l"/>
            <a:r>
              <a:rPr lang="en-US" sz="1600" b="1" dirty="0" smtClean="0"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Company Web Site</a:t>
            </a:r>
            <a:endParaRPr lang="en-US" sz="1600" b="1" dirty="0"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5029202"/>
            <a:ext cx="335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2300" b="1" kern="1200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Position</a:t>
            </a:r>
            <a:endParaRPr lang="en-US" dirty="0"/>
          </a:p>
        </p:txBody>
      </p:sp>
      <p:sp>
        <p:nvSpPr>
          <p:cNvPr id="9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5405735"/>
            <a:ext cx="3352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smtClean="0"/>
              <a:t>Web Site</a:t>
            </a:r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4267200" y="4572000"/>
            <a:ext cx="4419600" cy="1905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 smtClean="0"/>
              <a:t>Insert a Picture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5664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76200"/>
            <a:ext cx="7086600" cy="8382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r" rtl="0" eaLnBrk="0" fontAlgn="base" hangingPunct="0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lang="en-US" sz="4000" b="1" kern="1200" baseline="0" dirty="0">
                <a:ln w="500"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28600" y="914400"/>
            <a:ext cx="8686800" cy="5791200"/>
          </a:xfrm>
          <a:prstGeom prst="rect">
            <a:avLst/>
          </a:prstGeom>
        </p:spPr>
        <p:txBody>
          <a:bodyPr/>
          <a:lstStyle>
            <a:lvl1pPr marL="282575" indent="-2825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tabLst>
                <a:tab pos="282575" algn="l"/>
              </a:tabLst>
              <a:defRPr sz="3200">
                <a:solidFill>
                  <a:srgbClr val="EBFFD2"/>
                </a:solidFill>
              </a:defRPr>
            </a:lvl1pPr>
            <a:lvl2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defRPr sz="3000">
                <a:solidFill>
                  <a:schemeClr val="tx1">
                    <a:lumMod val="40000"/>
                    <a:lumOff val="60000"/>
                  </a:schemeClr>
                </a:solidFill>
              </a:defRPr>
            </a:lvl2pPr>
            <a:lvl3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defRPr sz="2800">
                <a:solidFill>
                  <a:srgbClr val="F5FFC2"/>
                </a:solidFill>
              </a:defRPr>
            </a:lvl3pPr>
            <a:lvl4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defRPr sz="2600">
                <a:solidFill>
                  <a:schemeClr val="tx1">
                    <a:lumMod val="40000"/>
                    <a:lumOff val="60000"/>
                  </a:schemeClr>
                </a:solidFill>
              </a:defRPr>
            </a:lvl4pPr>
            <a:lvl5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defRPr sz="2400">
                <a:solidFill>
                  <a:schemeClr val="tx1">
                    <a:lumMod val="40000"/>
                    <a:lumOff val="60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First Level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610600" y="6553200"/>
            <a:ext cx="457200" cy="228600"/>
          </a:xfrm>
          <a:prstGeom prst="rect">
            <a:avLst/>
          </a:prstGeom>
        </p:spPr>
        <p:txBody>
          <a:bodyPr anchor="ctr" anchorCtr="0"/>
          <a:lstStyle>
            <a:lvl1pPr algn="r">
              <a:defRPr sz="1100"/>
            </a:lvl1pPr>
          </a:lstStyle>
          <a:p>
            <a:fld id="{2418C5A7-B37D-47D7-832A-A075864FC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3183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76200"/>
            <a:ext cx="7086600" cy="8382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ts val="4000"/>
              </a:lnSpc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Slide Title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 hasCustomPrompt="1"/>
          </p:nvPr>
        </p:nvSpPr>
        <p:spPr>
          <a:xfrm>
            <a:off x="228600" y="990600"/>
            <a:ext cx="8686800" cy="579646"/>
          </a:xfrm>
          <a:prstGeom prst="rect">
            <a:avLst/>
          </a:prstGeom>
        </p:spPr>
        <p:txBody>
          <a:bodyPr>
            <a:spAutoFit/>
          </a:bodyPr>
          <a:lstStyle>
            <a:lvl1pPr marL="319088" marR="0" indent="-3190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buFont typeface="Wingdings 2" pitchFamily="18" charset="2"/>
              <a:buChar char=""/>
              <a:tabLst/>
              <a:defRPr sz="3000" baseline="0"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  <a:lvl2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defRPr sz="3000">
                <a:solidFill>
                  <a:schemeClr val="tx1">
                    <a:lumMod val="40000"/>
                    <a:lumOff val="60000"/>
                  </a:schemeClr>
                </a:solidFill>
              </a:defRPr>
            </a:lvl2pPr>
            <a:lvl3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defRPr sz="2800">
                <a:solidFill>
                  <a:schemeClr val="tx1">
                    <a:lumMod val="40000"/>
                    <a:lumOff val="60000"/>
                  </a:schemeClr>
                </a:solidFill>
              </a:defRPr>
            </a:lvl3pPr>
            <a:lvl4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defRPr sz="2600">
                <a:solidFill>
                  <a:schemeClr val="tx1">
                    <a:lumMod val="40000"/>
                    <a:lumOff val="60000"/>
                  </a:schemeClr>
                </a:solidFill>
              </a:defRPr>
            </a:lvl4pPr>
            <a:lvl5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defRPr sz="2400">
                <a:solidFill>
                  <a:schemeClr val="tx1">
                    <a:lumMod val="40000"/>
                    <a:lumOff val="60000"/>
                  </a:schemeClr>
                </a:solidFill>
              </a:defRPr>
            </a:lvl5pPr>
          </a:lstStyle>
          <a:p>
            <a:pPr marL="319088" marR="0" lvl="0" indent="-3190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buFont typeface="Wingdings 2" pitchFamily="18" charset="2"/>
              <a:buChar char=""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FF66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First Level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533400" y="1752602"/>
            <a:ext cx="8077200" cy="470898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lang="en-US" sz="2000" smtClean="0">
                <a:solidFill>
                  <a:srgbClr val="8CF4F2"/>
                </a:solidFill>
                <a:latin typeface="Consolas" pitchFamily="49" charset="0"/>
                <a:cs typeface="Consolas" pitchFamily="49" charset="0"/>
              </a:defRPr>
            </a:lvl1pPr>
          </a:lstStyle>
          <a:p>
            <a:pPr lvl="0"/>
            <a:r>
              <a:rPr lang="en-US" noProof="1" smtClean="0"/>
              <a:t>Enter source code here</a:t>
            </a:r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610600" y="6553200"/>
            <a:ext cx="457200" cy="228600"/>
          </a:xfrm>
          <a:prstGeom prst="rect">
            <a:avLst/>
          </a:prstGeom>
        </p:spPr>
        <p:txBody>
          <a:bodyPr anchor="ctr" anchorCtr="0"/>
          <a:lstStyle>
            <a:lvl1pPr algn="r">
              <a:defRPr sz="1100"/>
            </a:lvl1pPr>
          </a:lstStyle>
          <a:p>
            <a:fld id="{2418C5A7-B37D-47D7-832A-A075864FC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207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 hasCustomPrompt="1"/>
          </p:nvPr>
        </p:nvSpPr>
        <p:spPr>
          <a:xfrm>
            <a:off x="609600" y="2743201"/>
            <a:ext cx="7924800" cy="685800"/>
          </a:xfrm>
          <a:prstGeom prst="rect">
            <a:avLst/>
          </a:prstGeom>
        </p:spPr>
        <p:txBody>
          <a:bodyPr tIns="0" bIns="0" anchor="ctr" anchorCtr="0"/>
          <a:lstStyle>
            <a:lvl1pPr algn="ctr">
              <a:lnSpc>
                <a:spcPts val="5600"/>
              </a:lnSpc>
              <a:defRPr sz="5000" cap="none" baseline="0">
                <a:effectLst>
                  <a:outerShdw blurRad="30000" dist="30000" dir="2700000" algn="tl" rotWithShape="0">
                    <a:schemeClr val="bg2">
                      <a:shade val="45000"/>
                      <a:satMod val="150000"/>
                      <a:alpha val="90000"/>
                    </a:schemeClr>
                  </a:outerShdw>
                  <a:reflection blurRad="120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Section Title</a:t>
            </a:r>
            <a:endParaRPr lang="en-US" dirty="0"/>
          </a:p>
        </p:txBody>
      </p:sp>
      <p:sp>
        <p:nvSpPr>
          <p:cNvPr id="17" name="Subtitle 16"/>
          <p:cNvSpPr>
            <a:spLocks noGrp="1"/>
          </p:cNvSpPr>
          <p:nvPr>
            <p:ph type="subTitle" idx="1" hasCustomPrompt="1"/>
          </p:nvPr>
        </p:nvSpPr>
        <p:spPr>
          <a:xfrm>
            <a:off x="609600" y="3469480"/>
            <a:ext cx="7924800" cy="56912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800" b="1" kern="1200" baseline="0" dirty="0">
                <a:solidFill>
                  <a:srgbClr val="FAF7C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 smtClean="0"/>
              <a:t>Section Subtitle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9947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152400"/>
            <a:ext cx="7086600" cy="8382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r" rtl="0" eaLnBrk="0" fontAlgn="base" hangingPunct="0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lang="en-US" sz="4000" b="1" kern="1200" baseline="0" dirty="0">
                <a:ln w="500"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Presentation Title</a:t>
            </a:r>
            <a:endParaRPr lang="en-US" dirty="0"/>
          </a:p>
        </p:txBody>
      </p:sp>
      <p:sp>
        <p:nvSpPr>
          <p:cNvPr id="9" name="TextBox 8">
            <a:hlinkClick r:id="rId2" tooltip="Форум за програмиране и уеб дизайн - дискусии, съвети, въпроси и отговори @ Софтуерна академия на Телерик"/>
          </p:cNvPr>
          <p:cNvSpPr txBox="1"/>
          <p:nvPr/>
        </p:nvSpPr>
        <p:spPr>
          <a:xfrm rot="12041701" flipH="1">
            <a:off x="7471619" y="3840481"/>
            <a:ext cx="890352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9600" b="1" dirty="0" smtClean="0">
                <a:solidFill>
                  <a:schemeClr val="tx1">
                    <a:lumMod val="75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9600" b="1" dirty="0">
              <a:solidFill>
                <a:schemeClr val="tx1">
                  <a:lumMod val="75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0" name="TextBox 9">
            <a:hlinkClick r:id="rId3" tooltip="Курсове и уроци по програмиране, уеб дизайн, разработка на софтуер и информационни технологии - лекции, видео уроци, обучения - безплатно"/>
          </p:cNvPr>
          <p:cNvSpPr txBox="1"/>
          <p:nvPr/>
        </p:nvSpPr>
        <p:spPr>
          <a:xfrm rot="2456848" flipH="1">
            <a:off x="968763" y="4970087"/>
            <a:ext cx="859648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>
              <a:lnSpc>
                <a:spcPct val="80000"/>
              </a:lnSpc>
            </a:pPr>
            <a:r>
              <a:rPr lang="en-US" sz="12000" b="1" dirty="0" smtClean="0">
                <a:solidFill>
                  <a:srgbClr val="FFBF8B"/>
                </a:solidFill>
                <a:effectLst>
                  <a:reflection blurRad="6350" stA="55000" endA="300" endPos="45500" dir="5400000" sy="-100000" algn="bl" rotWithShape="0"/>
                </a:effectLst>
                <a:latin typeface="Cambria" pitchFamily="18" charset="0"/>
              </a:rPr>
              <a:t>?</a:t>
            </a:r>
            <a:endParaRPr lang="en-US" sz="12000" b="1" dirty="0">
              <a:solidFill>
                <a:srgbClr val="FFBF8B"/>
              </a:solidFill>
              <a:effectLst>
                <a:reflection blurRad="6350" stA="55000" endA="300" endPos="45500" dir="5400000" sy="-100000" algn="bl" rotWithShape="0"/>
              </a:effectLst>
              <a:latin typeface="Cambria" pitchFamily="18" charset="0"/>
            </a:endParaRPr>
          </a:p>
        </p:txBody>
      </p:sp>
      <p:sp>
        <p:nvSpPr>
          <p:cNvPr id="11" name="TextBox 10">
            <a:hlinkClick r:id="rId4" tooltip="Програмиране за деца - безплатно в Телерик кидс академия"/>
          </p:cNvPr>
          <p:cNvSpPr txBox="1"/>
          <p:nvPr/>
        </p:nvSpPr>
        <p:spPr>
          <a:xfrm rot="9535351" flipH="1">
            <a:off x="923387" y="1861198"/>
            <a:ext cx="673363" cy="14465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isometricOffAxis1Righ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8800" dirty="0" smtClean="0"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8800" dirty="0">
              <a:solidFill>
                <a:schemeClr val="accent5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2" name="TextBox 11">
            <a:hlinkClick r:id="rId5" tooltip="Безплатен SEO курс - оптимизация за търсачки, уроци по SEO"/>
          </p:cNvPr>
          <p:cNvSpPr txBox="1"/>
          <p:nvPr/>
        </p:nvSpPr>
        <p:spPr>
          <a:xfrm rot="16938170" flipH="1">
            <a:off x="4905823" y="1031967"/>
            <a:ext cx="859648" cy="186204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11500" b="1" dirty="0" smtClean="0">
                <a:solidFill>
                  <a:srgbClr val="FF831D"/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11500" b="1" dirty="0">
              <a:solidFill>
                <a:srgbClr val="FF831D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3" name="TextBox 12">
            <a:hlinkClick r:id="rId6" tooltip="Безплатен курс &quot;Уеб дизайн с HTML, CSS и JavaScript&quot; - уроци по правене на уеб сайтове, HTML, CSS, Photoshop, JavaScript и CMS системи"/>
          </p:cNvPr>
          <p:cNvSpPr txBox="1"/>
          <p:nvPr/>
        </p:nvSpPr>
        <p:spPr>
          <a:xfrm rot="19836951" flipH="1">
            <a:off x="7379011" y="1495156"/>
            <a:ext cx="949687" cy="206210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128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innerShdw blurRad="63500" dist="50800" dir="8100000">
                    <a:prstClr val="black">
                      <a:alpha val="50000"/>
                    </a:prstClr>
                  </a:innerShdw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12800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innerShdw blurRad="63500" dist="50800" dir="8100000">
                  <a:prstClr val="black">
                    <a:alpha val="50000"/>
                  </a:prstClr>
                </a:innerShdw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4" name="TextBox 13">
            <a:hlinkClick r:id="rId7" tooltip="Училищна софтуерна академия - безплатни уроци по програмиране и уеб дизайн"/>
          </p:cNvPr>
          <p:cNvSpPr txBox="1"/>
          <p:nvPr/>
        </p:nvSpPr>
        <p:spPr>
          <a:xfrm rot="2233443" flipH="1">
            <a:off x="2139219" y="940067"/>
            <a:ext cx="445351" cy="95410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perspectiveHeroicExtremeLeftFacing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5600" dirty="0" smtClean="0">
                <a:solidFill>
                  <a:schemeClr val="tx2">
                    <a:lumMod val="75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5600" dirty="0">
              <a:solidFill>
                <a:schemeClr val="tx2">
                  <a:lumMod val="75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5" name="TextBox 14">
            <a:hlinkClick r:id="rId8" tooltip="Безплатен курс &quot;Програмиране с ASP.NET MVC&quot; - уеб технологии, бази данни, C#, .NET, ASP.NET MVC"/>
          </p:cNvPr>
          <p:cNvSpPr txBox="1"/>
          <p:nvPr/>
        </p:nvSpPr>
        <p:spPr>
          <a:xfrm rot="8530737" flipH="1">
            <a:off x="4757101" y="4722613"/>
            <a:ext cx="643173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9600" dirty="0" smtClean="0">
                <a:solidFill>
                  <a:srgbClr val="FF4A37"/>
                </a:solidFill>
                <a:effectLst>
                  <a:reflection blurRad="6350" stA="60000" endA="900" endPos="60000" dist="29997" dir="5400000" sy="-100000" algn="bl" rotWithShape="0"/>
                </a:effectLst>
              </a:rPr>
              <a:t>?</a:t>
            </a:r>
            <a:endParaRPr lang="en-US" sz="9600" dirty="0">
              <a:solidFill>
                <a:srgbClr val="FF4A37"/>
              </a:solidFill>
              <a:effectLst>
                <a:reflection blurRad="6350" stA="60000" endA="900" endPos="60000" dist="29997" dir="5400000" sy="-100000" algn="bl" rotWithShape="0"/>
              </a:effectLst>
            </a:endParaRPr>
          </a:p>
        </p:txBody>
      </p:sp>
      <p:sp>
        <p:nvSpPr>
          <p:cNvPr id="16" name="TextBox 15">
            <a:hlinkClick r:id="rId9" tooltip="Безплатен курс &quot;Разработка на софтуер в Cloud среда&quot; - AppEngine, AWS, Azure"/>
          </p:cNvPr>
          <p:cNvSpPr txBox="1"/>
          <p:nvPr/>
        </p:nvSpPr>
        <p:spPr>
          <a:xfrm rot="12627025" flipH="1">
            <a:off x="2910498" y="4405709"/>
            <a:ext cx="386488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3600" dirty="0" smtClean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3600" dirty="0">
              <a:solidFill>
                <a:schemeClr val="tx2">
                  <a:lumMod val="40000"/>
                  <a:lumOff val="6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7" name="TextBox 16">
            <a:hlinkClick r:id="rId10" tooltip="BG Coder - онлайн състезателна система - тренировки за състезания по програмиране - online judge"/>
          </p:cNvPr>
          <p:cNvSpPr txBox="1"/>
          <p:nvPr/>
        </p:nvSpPr>
        <p:spPr>
          <a:xfrm rot="1186146" flipH="1">
            <a:off x="6185958" y="4125718"/>
            <a:ext cx="499379" cy="110799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</a:sp3d>
          </a:bodyPr>
          <a:lstStyle/>
          <a:p>
            <a:r>
              <a:rPr lang="en-US" sz="6600" dirty="0" smtClean="0">
                <a:solidFill>
                  <a:srgbClr val="9966FF"/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6600" dirty="0">
              <a:solidFill>
                <a:srgbClr val="9966FF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8" name="TextBox 17">
            <a:hlinkClick r:id="rId11" tooltip="Светлин Наков - курсове и уроци по програмиране, уеб дизайн, книги, обучения - безплатно"/>
          </p:cNvPr>
          <p:cNvSpPr txBox="1"/>
          <p:nvPr/>
        </p:nvSpPr>
        <p:spPr>
          <a:xfrm rot="19460650" flipH="1">
            <a:off x="3150207" y="1979503"/>
            <a:ext cx="489197" cy="769441"/>
          </a:xfrm>
          <a:prstGeom prst="rect">
            <a:avLst/>
          </a:prstGeom>
          <a:noFill/>
        </p:spPr>
        <p:txBody>
          <a:bodyPr wrap="square" rtlCol="0">
            <a:prstTxWarp prst="textInflate">
              <a:avLst/>
            </a:prstTxWarp>
            <a:spAutoFit/>
            <a:scene3d>
              <a:camera prst="perspectiveRelaxedModerately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4400" dirty="0" smtClean="0">
                <a:solidFill>
                  <a:srgbClr val="FF6699"/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4400" dirty="0">
              <a:solidFill>
                <a:srgbClr val="FF6699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9" name="TextBox 18">
            <a:hlinkClick r:id="rId12" tooltip="Безплатен курс &quot;Качествен програмен код&quot;"/>
          </p:cNvPr>
          <p:cNvSpPr txBox="1"/>
          <p:nvPr/>
        </p:nvSpPr>
        <p:spPr>
          <a:xfrm rot="18277140" flipH="1">
            <a:off x="405235" y="3272338"/>
            <a:ext cx="413607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3600" dirty="0" smtClean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3600" dirty="0">
              <a:solidFill>
                <a:schemeClr val="tx2">
                  <a:lumMod val="40000"/>
                  <a:lumOff val="6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0" name="TextBox 19">
            <a:hlinkClick r:id="rId13" tooltip="Алго академия - Академия по алгоритмично програмиране - безплатни уроци по алгоритми и структури от данни, състезателно програмиране и състезания"/>
          </p:cNvPr>
          <p:cNvSpPr txBox="1"/>
          <p:nvPr/>
        </p:nvSpPr>
        <p:spPr>
          <a:xfrm rot="18695734" flipH="1">
            <a:off x="3127408" y="5396301"/>
            <a:ext cx="5481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?</a:t>
            </a:r>
            <a:endParaRPr lang="en-US" sz="60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21" name="TextBox 20">
            <a:hlinkClick r:id="rId14" tooltip="Безплатен ASP.NET курс - уеб програмиране, бази данни, C#, .NET, ASP.NET"/>
          </p:cNvPr>
          <p:cNvSpPr txBox="1"/>
          <p:nvPr/>
        </p:nvSpPr>
        <p:spPr>
          <a:xfrm rot="10134629" flipH="1">
            <a:off x="6730680" y="5522529"/>
            <a:ext cx="44439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4000" dirty="0" smtClean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4000" dirty="0">
              <a:solidFill>
                <a:schemeClr val="accent4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2" name="TextBox 21">
            <a:hlinkClick r:id="rId15" tooltip="Софтуерна академия на Телерик - безплатни курсове и уроци по програмиране"/>
          </p:cNvPr>
          <p:cNvSpPr txBox="1"/>
          <p:nvPr/>
        </p:nvSpPr>
        <p:spPr>
          <a:xfrm rot="12126217" flipH="1">
            <a:off x="559977" y="930479"/>
            <a:ext cx="387894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en-US" sz="4000" b="1" spc="150" dirty="0" smtClean="0">
                <a:ln w="1143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</a:rPr>
              <a:t>?</a:t>
            </a:r>
            <a:endParaRPr lang="en-US" sz="4000" b="1" spc="150" dirty="0">
              <a:ln w="11430"/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</a:endParaRPr>
          </a:p>
        </p:txBody>
      </p:sp>
      <p:sp>
        <p:nvSpPr>
          <p:cNvPr id="23" name="TextBox 22">
            <a:hlinkClick r:id="rId16" tooltip="Безплатен курс &quot;Разработка на мобилни приложения&quot; - iPhone, Android, Windows Phone, PhoneGap, HTML5, jQuery, AJAX"/>
          </p:cNvPr>
          <p:cNvSpPr txBox="1"/>
          <p:nvPr/>
        </p:nvSpPr>
        <p:spPr>
          <a:xfrm rot="20840689" flipH="1">
            <a:off x="8186733" y="5517703"/>
            <a:ext cx="3574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ln w="19050">
                  <a:solidFill>
                    <a:schemeClr val="accent4">
                      <a:lumMod val="75000"/>
                      <a:alpha val="50000"/>
                    </a:schemeClr>
                  </a:solidFill>
                  <a:prstDash val="solid"/>
                  <a:miter lim="800000"/>
                </a:ln>
                <a:solidFill>
                  <a:schemeClr val="accent4">
                    <a:lumMod val="20000"/>
                    <a:lumOff val="80000"/>
                    <a:alpha val="25000"/>
                  </a:schemeClr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?</a:t>
            </a:r>
            <a:endParaRPr lang="en-US" sz="4000" b="1" dirty="0">
              <a:ln w="19050">
                <a:solidFill>
                  <a:schemeClr val="accent4">
                    <a:lumMod val="75000"/>
                    <a:alpha val="50000"/>
                  </a:schemeClr>
                </a:solidFill>
                <a:prstDash val="solid"/>
                <a:miter lim="800000"/>
              </a:ln>
              <a:solidFill>
                <a:schemeClr val="accent4">
                  <a:lumMod val="20000"/>
                  <a:lumOff val="80000"/>
                  <a:alpha val="25000"/>
                </a:schemeClr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24" name="TextBox 23">
            <a:hlinkClick r:id="rId17" tooltip="Free C# Programming Book by Svetlin Nakov - безплатна C# книга от Светлин Наков, книга C#, книга Java, безплатна книга"/>
          </p:cNvPr>
          <p:cNvSpPr txBox="1"/>
          <p:nvPr/>
        </p:nvSpPr>
        <p:spPr>
          <a:xfrm rot="15426793" flipH="1">
            <a:off x="1145826" y="4072255"/>
            <a:ext cx="369652" cy="76944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4400" dirty="0" smtClean="0">
                <a:ln>
                  <a:solidFill>
                    <a:schemeClr val="accent2">
                      <a:lumMod val="40000"/>
                      <a:lumOff val="60000"/>
                    </a:schemeClr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4400" dirty="0"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5" name="TextBox 24">
            <a:hlinkClick r:id="rId18" tooltip="Дончо Минков - сайт за програмиране"/>
          </p:cNvPr>
          <p:cNvSpPr txBox="1"/>
          <p:nvPr/>
        </p:nvSpPr>
        <p:spPr>
          <a:xfrm rot="11071760" flipH="1">
            <a:off x="6518175" y="1140358"/>
            <a:ext cx="345408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2800" dirty="0" smtClean="0">
                <a:ln>
                  <a:solidFill>
                    <a:schemeClr val="tx1">
                      <a:lumMod val="75000"/>
                    </a:schemeClr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2800" dirty="0">
              <a:ln>
                <a:solidFill>
                  <a:schemeClr val="tx1">
                    <a:lumMod val="75000"/>
                  </a:schemeClr>
                </a:solidFill>
              </a:ln>
              <a:solidFill>
                <a:schemeClr val="accent4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6" name="TextBox 25">
            <a:hlinkClick r:id="rId19" tooltip="Николай Костов - блог за програмиране"/>
          </p:cNvPr>
          <p:cNvSpPr txBox="1"/>
          <p:nvPr/>
        </p:nvSpPr>
        <p:spPr>
          <a:xfrm rot="300526" flipH="1">
            <a:off x="3902297" y="1278821"/>
            <a:ext cx="345408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2800" b="1" dirty="0" smtClean="0">
                <a:ln w="31550" cmpd="sng">
                  <a:solidFill>
                    <a:schemeClr val="tx2">
                      <a:lumMod val="20000"/>
                      <a:lumOff val="80000"/>
                    </a:schemeClr>
                  </a:solidFill>
                  <a:prstDash val="solid"/>
                </a:ln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?</a:t>
            </a:r>
            <a:endParaRPr lang="en-US" sz="2800" dirty="0">
              <a:ln w="31550" cmpd="sng">
                <a:solidFill>
                  <a:schemeClr val="tx2">
                    <a:lumMod val="20000"/>
                    <a:lumOff val="80000"/>
                  </a:schemeClr>
                </a:solidFill>
                <a:prstDash val="solid"/>
              </a:ln>
              <a:solidFill>
                <a:schemeClr val="tx1">
                  <a:lumMod val="20000"/>
                  <a:lumOff val="8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7" name="TextBox 26">
            <a:hlinkClick r:id="rId20" tooltip="C# курс - програмиране, уроци, видео, лекции от Наков"/>
          </p:cNvPr>
          <p:cNvSpPr txBox="1"/>
          <p:nvPr/>
        </p:nvSpPr>
        <p:spPr>
          <a:xfrm rot="2086872" flipH="1">
            <a:off x="8330354" y="1359229"/>
            <a:ext cx="444390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3200" dirty="0" smtClean="0"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3200" dirty="0"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  <a:solidFill>
                <a:schemeClr val="accent4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828800" y="2903716"/>
            <a:ext cx="5486400" cy="1261884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lvl="0" indent="0" algn="ctr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7600" b="1" spc="150" noProof="0" dirty="0" smtClean="0">
                <a:ln w="11430"/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rPr>
              <a:t>Questions?</a:t>
            </a:r>
            <a:endParaRPr lang="en-US" sz="7600" b="1" spc="150" dirty="0">
              <a:ln w="11430"/>
              <a:solidFill>
                <a:schemeClr val="tx1">
                  <a:lumMod val="40000"/>
                  <a:lumOff val="6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+mn-lt"/>
            </a:endParaRPr>
          </a:p>
        </p:txBody>
      </p:sp>
      <p:sp>
        <p:nvSpPr>
          <p:cNvPr id="29" name="Text Placeholder 29"/>
          <p:cNvSpPr>
            <a:spLocks noGrp="1"/>
          </p:cNvSpPr>
          <p:nvPr>
            <p:ph type="body" sz="quarter" idx="10" hasCustomPrompt="1"/>
          </p:nvPr>
        </p:nvSpPr>
        <p:spPr>
          <a:xfrm>
            <a:off x="6807132" y="6400800"/>
            <a:ext cx="2218556" cy="369332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 dirty="0" smtClean="0"/>
              <a:t>Course web site URL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80155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hyperlink" Target="http://kursove-uroci-knigi-obuchenie-programirane-web-design-csharp.info/" TargetMode="External"/><Relationship Id="rId13" Type="http://schemas.openxmlformats.org/officeDocument/2006/relationships/hyperlink" Target="http://mvccourse.telerik.com/" TargetMode="External"/><Relationship Id="rId18" Type="http://schemas.openxmlformats.org/officeDocument/2006/relationships/hyperlink" Target="http://algoacademy.telerik.com/" TargetMode="Externa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hyperlink" Target="http://mobiledevcourse.telerik.com/" TargetMode="External"/><Relationship Id="rId7" Type="http://schemas.openxmlformats.org/officeDocument/2006/relationships/hyperlink" Target="http://forums.academy.telerik.com/" TargetMode="External"/><Relationship Id="rId12" Type="http://schemas.openxmlformats.org/officeDocument/2006/relationships/hyperlink" Target="http://schoolacademy.telerik.com/" TargetMode="External"/><Relationship Id="rId17" Type="http://schemas.openxmlformats.org/officeDocument/2006/relationships/hyperlink" Target="http://codecourse.telerik.com/" TargetMode="External"/><Relationship Id="rId25" Type="http://schemas.openxmlformats.org/officeDocument/2006/relationships/hyperlink" Target="http://csharpfundamentals.telerik.com/" TargetMode="External"/><Relationship Id="rId2" Type="http://schemas.openxmlformats.org/officeDocument/2006/relationships/slideLayout" Target="../slideLayouts/slideLayout2.xml"/><Relationship Id="rId16" Type="http://schemas.openxmlformats.org/officeDocument/2006/relationships/hyperlink" Target="http://www.nakov.com/" TargetMode="External"/><Relationship Id="rId20" Type="http://schemas.openxmlformats.org/officeDocument/2006/relationships/hyperlink" Target="http://academy.telerik.com/" TargetMode="External"/><Relationship Id="rId29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hyperlink" Target="http://html5course.telerik.com/" TargetMode="External"/><Relationship Id="rId24" Type="http://schemas.openxmlformats.org/officeDocument/2006/relationships/hyperlink" Target="http://www.nikolay.it/" TargetMode="External"/><Relationship Id="rId5" Type="http://schemas.openxmlformats.org/officeDocument/2006/relationships/slideLayout" Target="../slideLayouts/slideLayout5.xml"/><Relationship Id="rId15" Type="http://schemas.openxmlformats.org/officeDocument/2006/relationships/hyperlink" Target="http://www.bgcoder.com/" TargetMode="External"/><Relationship Id="rId23" Type="http://schemas.openxmlformats.org/officeDocument/2006/relationships/hyperlink" Target="http://www.minkov.it/" TargetMode="External"/><Relationship Id="rId28" Type="http://schemas.openxmlformats.org/officeDocument/2006/relationships/image" Target="../media/image3.png"/><Relationship Id="rId10" Type="http://schemas.openxmlformats.org/officeDocument/2006/relationships/hyperlink" Target="http://seocourse.telerik.com/" TargetMode="External"/><Relationship Id="rId19" Type="http://schemas.openxmlformats.org/officeDocument/2006/relationships/hyperlink" Target="http://aspnetcourse.telerik.com/" TargetMode="External"/><Relationship Id="rId4" Type="http://schemas.openxmlformats.org/officeDocument/2006/relationships/slideLayout" Target="../slideLayouts/slideLayout4.xml"/><Relationship Id="rId9" Type="http://schemas.openxmlformats.org/officeDocument/2006/relationships/hyperlink" Target="http://www.telerik-kids.com/" TargetMode="External"/><Relationship Id="rId14" Type="http://schemas.openxmlformats.org/officeDocument/2006/relationships/hyperlink" Target="http://clouddevcourse.telerik.com/" TargetMode="External"/><Relationship Id="rId22" Type="http://schemas.openxmlformats.org/officeDocument/2006/relationships/hyperlink" Target="http://www.introprogramming.info/" TargetMode="External"/><Relationship Id="rId27" Type="http://schemas.openxmlformats.org/officeDocument/2006/relationships/image" Target="../media/image2.png"/><Relationship Id="rId30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05401" y="304800"/>
            <a:ext cx="1816798" cy="331718"/>
            <a:chOff x="1236228" y="1523999"/>
            <a:chExt cx="4351212" cy="3261410"/>
          </a:xfrm>
          <a:solidFill>
            <a:schemeClr val="bg1"/>
          </a:solidFill>
        </p:grpSpPr>
        <p:sp>
          <p:nvSpPr>
            <p:cNvPr id="10" name="TextBox 9">
              <a:hlinkClick r:id="rId7" tooltip="Форум за програмиране и уеб дизайн - дискусии, съвети, въпроси и отговори @ Софтуерна академия на Телерик"/>
            </p:cNvPr>
            <p:cNvSpPr txBox="1"/>
            <p:nvPr userDrawn="1"/>
          </p:nvSpPr>
          <p:spPr>
            <a:xfrm flipH="1">
              <a:off x="3394421" y="1733044"/>
              <a:ext cx="1528760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форум програмиране, форум уеб дизайн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11" name="TextBox 10">
              <a:hlinkClick r:id="rId8" tooltip="Курсове и уроци по програмиране, уеб дизайн, разработка на софтуер и информационни технологии - лекции, видео уроци, обучения - безплатно"/>
            </p:cNvPr>
            <p:cNvSpPr txBox="1"/>
            <p:nvPr userDrawn="1"/>
          </p:nvSpPr>
          <p:spPr>
            <a:xfrm flipH="1">
              <a:off x="1350512" y="1528531"/>
              <a:ext cx="2008657" cy="1149887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курсове и уроци по програмиране, уеб дизайн – безплатно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12" name="TextBox 11">
              <a:hlinkClick r:id="rId9" tooltip="Програмиране за деца - безплатно в Телерик кидс академия"/>
            </p:cNvPr>
            <p:cNvSpPr txBox="1"/>
            <p:nvPr userDrawn="1"/>
          </p:nvSpPr>
          <p:spPr>
            <a:xfrm flipH="1">
              <a:off x="1538277" y="2175144"/>
              <a:ext cx="1816698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програмиране за деца – безплатни курсове и уроци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13" name="TextBox 12">
              <a:hlinkClick r:id="rId10" tooltip="Безплатен SEO курс - оптимизация за търсачки, уроци по SEO"/>
            </p:cNvPr>
            <p:cNvSpPr txBox="1"/>
            <p:nvPr userDrawn="1"/>
          </p:nvSpPr>
          <p:spPr>
            <a:xfrm flipH="1">
              <a:off x="1660733" y="2421354"/>
              <a:ext cx="1697684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 algn="l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безплатен SEO курс - оптимизация за търсачки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14" name="TextBox 13">
              <a:hlinkClick r:id="rId11" tooltip="Безплатен курс &quot;Уеб дизайн с HTML, CSS и JavaScript&quot; - уроци по правене на уеб сайтове, HTML, CSS, Photoshop, JavaScript и CMS системи"/>
            </p:cNvPr>
            <p:cNvSpPr txBox="1"/>
            <p:nvPr userDrawn="1"/>
          </p:nvSpPr>
          <p:spPr>
            <a:xfrm flipH="1">
              <a:off x="1448484" y="2878556"/>
              <a:ext cx="1908838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уроци по уеб дизайн, HTML, CSS, JavaScript, Photoshop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15" name="TextBox 14">
              <a:hlinkClick r:id="rId12" tooltip="Училищна софтуерна академия - безплатни уроци по програмиране и уеб дизайн"/>
            </p:cNvPr>
            <p:cNvSpPr txBox="1"/>
            <p:nvPr userDrawn="1"/>
          </p:nvSpPr>
          <p:spPr>
            <a:xfrm flipH="1">
              <a:off x="1636239" y="1946534"/>
              <a:ext cx="1747593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l"/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уроци по програмиране и уеб дизайн за ученици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16" name="TextBox 15">
              <a:hlinkClick r:id="rId13" tooltip="Безплатен курс &quot;Програмиране с ASP.NET MVC&quot; - уеб технологии, бази данни, C#, .NET, ASP.NET MVC"/>
            </p:cNvPr>
            <p:cNvSpPr txBox="1"/>
            <p:nvPr userDrawn="1"/>
          </p:nvSpPr>
          <p:spPr>
            <a:xfrm flipH="1">
              <a:off x="3402822" y="2230065"/>
              <a:ext cx="1939551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ASP.NET MVC курс – HTML, SQL, C#, .NET, ASP.NET MVC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18" name="TextBox 17">
              <a:hlinkClick r:id="rId14" tooltip="Безплатен курс &quot;Разработка на софтуер в Cloud среда&quot; - AppEngine, AWS, Azure"/>
            </p:cNvPr>
            <p:cNvSpPr txBox="1"/>
            <p:nvPr userDrawn="1"/>
          </p:nvSpPr>
          <p:spPr>
            <a:xfrm flipH="1">
              <a:off x="1440310" y="3574997"/>
              <a:ext cx="1881966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безплатен курс "Разработка на софтуер в cloud среда"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19" name="TextBox 18">
              <a:hlinkClick r:id="rId15" tooltip="BG Coder - онлайн състезателна система - тренировки за състезания по програмиране - online judge"/>
            </p:cNvPr>
            <p:cNvSpPr txBox="1"/>
            <p:nvPr userDrawn="1"/>
          </p:nvSpPr>
          <p:spPr>
            <a:xfrm flipH="1">
              <a:off x="3389110" y="1523999"/>
              <a:ext cx="1874288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BG Coder - онлайн състезателна система - online judge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20" name="TextBox 19">
              <a:hlinkClick r:id="rId16" tooltip="Светлин Наков - курсове и уроци по програмиране, уеб дизайн, книги, обучения - безплатно"/>
            </p:cNvPr>
            <p:cNvSpPr txBox="1"/>
            <p:nvPr userDrawn="1"/>
          </p:nvSpPr>
          <p:spPr>
            <a:xfrm flipH="1">
              <a:off x="1236228" y="2649965"/>
              <a:ext cx="2123831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курсове и уроци по програмиране, книги – безплатно от Наков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21" name="TextBox 20">
              <a:hlinkClick r:id="rId17" tooltip="Безплатен курс &quot;Качествен програмен код&quot;"/>
            </p:cNvPr>
            <p:cNvSpPr txBox="1"/>
            <p:nvPr userDrawn="1"/>
          </p:nvSpPr>
          <p:spPr>
            <a:xfrm flipH="1">
              <a:off x="1766855" y="3335748"/>
              <a:ext cx="1594026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безплатен курс "Качествен програмен код"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22" name="TextBox 21">
              <a:hlinkClick r:id="rId18" tooltip="Алго академия - Академия по алгоритмично програмиране - безплатни уроци по алгоритми и структури от данни, състезателно програмиране и състезания"/>
            </p:cNvPr>
            <p:cNvSpPr txBox="1"/>
            <p:nvPr userDrawn="1"/>
          </p:nvSpPr>
          <p:spPr>
            <a:xfrm flipH="1">
              <a:off x="3407676" y="2461282"/>
              <a:ext cx="1977943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алго академия – състезателно програмиране, състезания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23" name="TextBox 22">
              <a:hlinkClick r:id="rId19" tooltip="Безплатен ASP.NET курс - уеб програмиране, бази данни, C#, .NET, ASP.NET"/>
            </p:cNvPr>
            <p:cNvSpPr txBox="1"/>
            <p:nvPr userDrawn="1"/>
          </p:nvSpPr>
          <p:spPr>
            <a:xfrm flipH="1">
              <a:off x="3406019" y="1985429"/>
              <a:ext cx="2181421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ASP.NET курс - уеб програмиране, бази данни, C#, .NET, ASP.NET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24" name="TextBox 23">
              <a:hlinkClick r:id="rId20" tooltip="Софтуерна академия на Телерик - безплатни курсове и уроци по програмиране"/>
            </p:cNvPr>
            <p:cNvSpPr txBox="1"/>
            <p:nvPr userDrawn="1"/>
          </p:nvSpPr>
          <p:spPr>
            <a:xfrm flipH="1">
              <a:off x="1504800" y="1717933"/>
              <a:ext cx="1901159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200"/>
              </a:lvl1pPr>
            </a:lstStyle>
            <a:p>
              <a:pPr lvl="0" algn="l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курсове и уроци по </a:t>
              </a:r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програмиране – Телерик академия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25" name="TextBox 24">
              <a:hlinkClick r:id="rId21" tooltip="Безплатен курс &quot;Разработка на мобилни приложения&quot; - iPhone, Android, Windows Phone, PhoneGap, HTML5, jQuery, AJAX"/>
            </p:cNvPr>
            <p:cNvSpPr txBox="1"/>
            <p:nvPr userDrawn="1"/>
          </p:nvSpPr>
          <p:spPr>
            <a:xfrm flipH="1">
              <a:off x="3404043" y="2718405"/>
              <a:ext cx="2058568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курс мобилни приложения с iPhone, Android, WP7, PhoneGap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26" name="TextBox 25">
              <a:hlinkClick r:id="rId22" tooltip="Free C# Programming Book by Svetlin Nakov - безплатна C# книга от Светлин Наков, книга C#, книга Java, безплатна книга"/>
            </p:cNvPr>
            <p:cNvSpPr txBox="1"/>
            <p:nvPr userDrawn="1"/>
          </p:nvSpPr>
          <p:spPr>
            <a:xfrm flipH="1">
              <a:off x="1440317" y="3117785"/>
              <a:ext cx="1901159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free C# book, безплатна книга C#, книга Java, книга C#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27" name="TextBox 26">
              <a:hlinkClick r:id="rId23" tooltip="Дончо Минков - сайт за програмиране"/>
            </p:cNvPr>
            <p:cNvSpPr txBox="1"/>
            <p:nvPr userDrawn="1"/>
          </p:nvSpPr>
          <p:spPr>
            <a:xfrm flipH="1">
              <a:off x="3401370" y="2963513"/>
              <a:ext cx="1475012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600">
                  <a:ln w="0">
                    <a:solidFill>
                      <a:schemeClr val="tx1"/>
                    </a:solidFill>
                  </a:ln>
                  <a:effectLst/>
                </a:defRPr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</a:rPr>
                <a:t>Дончо Минков - сайт за програмиране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</a:endParaRPr>
            </a:p>
          </p:txBody>
        </p:sp>
        <p:sp>
          <p:nvSpPr>
            <p:cNvPr id="28" name="TextBox 27">
              <a:hlinkClick r:id="rId24" tooltip="Николай Костов - блог за програмиране"/>
            </p:cNvPr>
            <p:cNvSpPr txBox="1"/>
            <p:nvPr userDrawn="1"/>
          </p:nvSpPr>
          <p:spPr>
            <a:xfrm flipH="1">
              <a:off x="3401423" y="3217864"/>
              <a:ext cx="1513403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l"/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Николай Костов - блог за програмиране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1" name="TextBox 30">
              <a:hlinkClick r:id="rId25" tooltip="безплатен C# курс в софтуерната академия на Наков"/>
            </p:cNvPr>
            <p:cNvSpPr txBox="1"/>
            <p:nvPr userDrawn="1"/>
          </p:nvSpPr>
          <p:spPr>
            <a:xfrm flipH="1">
              <a:off x="3398080" y="3548402"/>
              <a:ext cx="1359837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600">
                  <a:ln w="0">
                    <a:solidFill>
                      <a:schemeClr val="tx1"/>
                    </a:solidFill>
                  </a:ln>
                  <a:effectLst/>
                </a:defRPr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</a:rPr>
                <a:t>C# курс, програмиране, безплатно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</a:endParaRPr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143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"/>
          <p:cNvPicPr>
            <a:picLocks noChangeAspect="1" noChangeArrowheads="1"/>
          </p:cNvPicPr>
          <p:nvPr/>
        </p:nvPicPr>
        <p:blipFill>
          <a:blip r:embed="rId2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02"/>
            <a:ext cx="9144000" cy="5907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247652"/>
            <a:ext cx="9144000" cy="4833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6" name="Picture 2" descr="Telerik Academy for Software Engineers - http://academy.telerik.com" title="Telerik Software Academy"/>
          <p:cNvPicPr>
            <a:picLocks noChangeAspect="1" noChangeArrowheads="1"/>
          </p:cNvPicPr>
          <p:nvPr/>
        </p:nvPicPr>
        <p:blipFill>
          <a:blip r:embed="rId29">
            <a:extLst>
              <a:ext uri="{BEBA8EAE-BF5A-486C-A8C5-ECC9F3942E4B}">
                <a14:imgProps xmlns:a14="http://schemas.microsoft.com/office/drawing/2010/main">
                  <a14:imgLayer r:embed="rId30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2400" y="228602"/>
            <a:ext cx="1714500" cy="428625"/>
          </a:xfrm>
          <a:prstGeom prst="rect">
            <a:avLst/>
          </a:prstGeom>
          <a:noFill/>
          <a:effectLst>
            <a:outerShdw blurRad="127000" sx="101000" sy="101000" algn="ctr" rotWithShape="0">
              <a:schemeClr val="tx1">
                <a:lumMod val="20000"/>
                <a:lumOff val="80000"/>
                <a:alpha val="75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21238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iming>
    <p:tnLst>
      <p:par>
        <p:cTn id="1" dur="indefinite" restart="never" nodeType="tmRoot"/>
      </p:par>
    </p:tnLst>
  </p:timing>
  <p:txStyles>
    <p:titleStyle>
      <a:lvl1pPr algn="r" rtl="0" eaLnBrk="1" fontAlgn="base" hangingPunct="1">
        <a:lnSpc>
          <a:spcPts val="4400"/>
        </a:lnSpc>
        <a:spcBef>
          <a:spcPct val="0"/>
        </a:spcBef>
        <a:spcAft>
          <a:spcPct val="0"/>
        </a:spcAft>
        <a:defRPr sz="4400" b="1" kern="1200" baseline="0">
          <a:ln w="500">
            <a:noFill/>
          </a:ln>
          <a:solidFill>
            <a:schemeClr val="tx2"/>
          </a:solidFill>
          <a:effectLst>
            <a:outerShdw blurRad="38100" dist="38100" dir="2700000" algn="tl">
              <a:srgbClr val="000000">
                <a:alpha val="43137"/>
              </a:srgbClr>
            </a:outerShdw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2pPr>
      <a:lvl3pPr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3pPr>
      <a:lvl4pPr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4pPr>
      <a:lvl5pPr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5pPr>
      <a:lvl6pPr marL="457200"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6pPr>
      <a:lvl7pPr marL="914400"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7pPr>
      <a:lvl8pPr marL="1371600"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8pPr>
      <a:lvl9pPr marL="1828800"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9pPr>
    </p:titleStyle>
    <p:bodyStyle>
      <a:lvl1pPr marL="319088" indent="-319088" algn="l" rtl="0" eaLnBrk="1" fontAlgn="base" hangingPunct="1">
        <a:spcBef>
          <a:spcPct val="20000"/>
        </a:spcBef>
        <a:spcAft>
          <a:spcPct val="0"/>
        </a:spcAft>
        <a:buClr>
          <a:schemeClr val="accent5">
            <a:lumMod val="40000"/>
            <a:lumOff val="60000"/>
          </a:schemeClr>
        </a:buClr>
        <a:buSzPct val="70000"/>
        <a:buFont typeface="Wingdings 2" pitchFamily="18" charset="2"/>
        <a:buChar char=""/>
        <a:defRPr sz="32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1pPr>
      <a:lvl2pPr marL="630238" indent="-273050" algn="l" rtl="0" eaLnBrk="1" fontAlgn="base" hangingPunct="1">
        <a:spcBef>
          <a:spcPct val="20000"/>
        </a:spcBef>
        <a:spcAft>
          <a:spcPct val="0"/>
        </a:spcAft>
        <a:buClr>
          <a:schemeClr val="accent2">
            <a:lumMod val="60000"/>
            <a:lumOff val="40000"/>
          </a:schemeClr>
        </a:buClr>
        <a:buFont typeface="Wingdings 2" pitchFamily="18" charset="2"/>
        <a:buChar char=""/>
        <a:defRPr sz="30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2pPr>
      <a:lvl3pPr marL="922338" indent="-273050" algn="l" rtl="0" eaLnBrk="1" fontAlgn="base" hangingPunct="1">
        <a:spcBef>
          <a:spcPct val="20000"/>
        </a:spcBef>
        <a:spcAft>
          <a:spcPct val="0"/>
        </a:spcAft>
        <a:buClr>
          <a:schemeClr val="tx1">
            <a:lumMod val="50000"/>
          </a:schemeClr>
        </a:buClr>
        <a:buFont typeface="Wingdings 2" pitchFamily="18" charset="2"/>
        <a:buChar char=""/>
        <a:defRPr sz="28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3pPr>
      <a:lvl4pPr marL="1187450" indent="-228600" algn="l" rtl="0" eaLnBrk="1" fontAlgn="base" hangingPunct="1">
        <a:spcBef>
          <a:spcPct val="20000"/>
        </a:spcBef>
        <a:spcAft>
          <a:spcPct val="0"/>
        </a:spcAft>
        <a:buClr>
          <a:srgbClr val="F8BD52"/>
        </a:buClr>
        <a:buFont typeface="Wingdings 2" pitchFamily="18" charset="2"/>
        <a:buChar char=""/>
        <a:defRPr sz="26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4pPr>
      <a:lvl5pPr marL="1425575" indent="-228600" algn="l" rtl="0" eaLnBrk="1" fontAlgn="base" hangingPunct="1">
        <a:spcBef>
          <a:spcPct val="20000"/>
        </a:spcBef>
        <a:spcAft>
          <a:spcPct val="0"/>
        </a:spcAft>
        <a:buClr>
          <a:srgbClr val="46A6BD"/>
        </a:buClr>
        <a:buFont typeface="Wingdings 2" pitchFamily="18" charset="2"/>
        <a:buChar char=""/>
        <a:defRPr sz="24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5pPr>
      <a:lvl6pPr marL="1673352" indent="-22860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11096" indent="-228600" algn="l" rtl="0" eaLnBrk="1" latinLnBrk="0" hangingPunct="1">
        <a:spcBef>
          <a:spcPct val="20000"/>
        </a:spcBef>
        <a:buClr>
          <a:schemeClr val="tx2"/>
        </a:buClr>
        <a:buFont typeface="Wingdings 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21408" indent="-182880" algn="l" rtl="0" eaLnBrk="1" latinLnBrk="0" hangingPunct="1">
        <a:spcBef>
          <a:spcPct val="20000"/>
        </a:spcBef>
        <a:buClr>
          <a:schemeClr val="tx2"/>
        </a:buClr>
        <a:buFont typeface="Wingdings 2"/>
        <a:buChar char="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22576" indent="-182880" algn="l" rtl="0" eaLnBrk="1" latinLnBrk="0" hangingPunct="1">
        <a:spcBef>
          <a:spcPct val="20000"/>
        </a:spcBef>
        <a:buClr>
          <a:schemeClr val="tx2"/>
        </a:buClr>
        <a:buFont typeface="Wingdings 2"/>
        <a:buChar char="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://academy.telerik.com/" TargetMode="Externa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07666" y="2409245"/>
            <a:ext cx="7979134" cy="883712"/>
          </a:xfrm>
        </p:spPr>
        <p:txBody>
          <a:bodyPr/>
          <a:lstStyle/>
          <a:p>
            <a:r>
              <a:rPr lang="en-US" dirty="0" smtClean="0"/>
              <a:t>Directives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Angular Basics</a:t>
            </a:r>
            <a:endParaRPr lang="en-US" dirty="0"/>
          </a:p>
        </p:txBody>
      </p:sp>
      <p:pic>
        <p:nvPicPr>
          <p:cNvPr id="1026" name="Picture 2" descr="http://angularjs.org/img/AngularJS-large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555" t="-15523" r="-4555" b="-15523"/>
          <a:stretch/>
        </p:blipFill>
        <p:spPr bwMode="auto">
          <a:xfrm>
            <a:off x="4056933" y="4736768"/>
            <a:ext cx="4867330" cy="1648442"/>
          </a:xfrm>
          <a:prstGeom prst="roundRect">
            <a:avLst>
              <a:gd name="adj" fmla="val 4957"/>
            </a:avLst>
          </a:prstGeom>
          <a:solidFill>
            <a:srgbClr val="FFFFFF"/>
          </a:solidFill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9466" y="56651"/>
            <a:ext cx="2782750" cy="215030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4"/>
          <a:srcRect l="21791" t="22012" r="21791" b="22012"/>
          <a:stretch/>
        </p:blipFill>
        <p:spPr>
          <a:xfrm>
            <a:off x="682021" y="1131804"/>
            <a:ext cx="3477726" cy="2458698"/>
          </a:xfrm>
          <a:prstGeom prst="rect">
            <a:avLst/>
          </a:prstGeom>
          <a:effectLst>
            <a:glow rad="139700">
              <a:schemeClr val="tx2">
                <a:lumMod val="75000"/>
                <a:alpha val="40000"/>
              </a:schemeClr>
            </a:glow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987" y="5259785"/>
            <a:ext cx="4090771" cy="1219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020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Table of 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2411" y="1781091"/>
            <a:ext cx="8686800" cy="5791200"/>
          </a:xfrm>
        </p:spPr>
        <p:txBody>
          <a:bodyPr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 smtClean="0"/>
              <a:t>What is a directive and why we need it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 smtClean="0"/>
              <a:t>How to create directives</a:t>
            </a:r>
            <a:endParaRPr lang="en-US" dirty="0"/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 smtClean="0"/>
              <a:t>Directive specifics for attributes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 smtClean="0"/>
              <a:t>jQuery plugins directives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37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609600" y="1889761"/>
            <a:ext cx="7924800" cy="685800"/>
          </a:xfrm>
        </p:spPr>
        <p:txBody>
          <a:bodyPr/>
          <a:lstStyle/>
          <a:p>
            <a:r>
              <a:rPr lang="en-US" dirty="0" smtClean="0"/>
              <a:t>What Is a Directive</a:t>
            </a:r>
            <a:endParaRPr lang="en-US" dirty="0"/>
          </a:p>
        </p:txBody>
      </p:sp>
      <p:pic>
        <p:nvPicPr>
          <p:cNvPr id="1026" name="Picture 2" descr="http://www.johannesburgbar.co.za/images/top_directives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2528" y="2994617"/>
            <a:ext cx="3876675" cy="2105026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8114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 Directive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36550" y="1638020"/>
            <a:ext cx="8686800" cy="5299493"/>
          </a:xfrm>
        </p:spPr>
        <p:txBody>
          <a:bodyPr/>
          <a:lstStyle/>
          <a:p>
            <a:r>
              <a:rPr lang="en-US" dirty="0" smtClean="0"/>
              <a:t>Directives</a:t>
            </a:r>
          </a:p>
          <a:p>
            <a:pPr lvl="1"/>
            <a:r>
              <a:rPr lang="en-US" dirty="0" smtClean="0"/>
              <a:t>Extends HTML</a:t>
            </a:r>
          </a:p>
          <a:p>
            <a:pPr lvl="1"/>
            <a:r>
              <a:rPr lang="en-US" dirty="0" smtClean="0"/>
              <a:t>Make it easier for "dynamic" pages</a:t>
            </a:r>
          </a:p>
          <a:p>
            <a:pPr lvl="1"/>
            <a:r>
              <a:rPr lang="en-US" dirty="0" smtClean="0"/>
              <a:t>Easier to read document</a:t>
            </a:r>
          </a:p>
          <a:p>
            <a:pPr lvl="1"/>
            <a:r>
              <a:rPr lang="en-US" dirty="0" smtClean="0"/>
              <a:t>Domain specific tags</a:t>
            </a:r>
          </a:p>
        </p:txBody>
      </p:sp>
      <p:pic>
        <p:nvPicPr>
          <p:cNvPr id="2050" name="Picture 2" descr="http://trialx.com/curetalk/wp-content/blogs.dir/7/files/2011/05/diseases/Advance_Directives-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4568" y="4245995"/>
            <a:ext cx="1783627" cy="1903579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9547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 Directive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52453" y="1860657"/>
            <a:ext cx="8686800" cy="5299493"/>
          </a:xfrm>
        </p:spPr>
        <p:txBody>
          <a:bodyPr/>
          <a:lstStyle/>
          <a:p>
            <a:r>
              <a:rPr lang="en-US" dirty="0" smtClean="0"/>
              <a:t>Main uses of directives</a:t>
            </a:r>
          </a:p>
          <a:p>
            <a:pPr lvl="1"/>
            <a:r>
              <a:rPr lang="en-US" dirty="0" smtClean="0"/>
              <a:t>Custom elements (tags)</a:t>
            </a:r>
          </a:p>
          <a:p>
            <a:pPr lvl="1"/>
            <a:r>
              <a:rPr lang="en-US" dirty="0" smtClean="0"/>
              <a:t>Custom events</a:t>
            </a:r>
          </a:p>
          <a:p>
            <a:pPr lvl="1"/>
            <a:r>
              <a:rPr lang="en-US" dirty="0" smtClean="0"/>
              <a:t>Observe and react to changes</a:t>
            </a:r>
          </a:p>
        </p:txBody>
      </p:sp>
      <p:pic>
        <p:nvPicPr>
          <p:cNvPr id="3074" name="Picture 2" descr="http://www.portlandwebworks.com/sites/default/files/angular_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83404">
            <a:off x="5721730" y="2443076"/>
            <a:ext cx="2930165" cy="1709263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9436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584365" y="1683027"/>
            <a:ext cx="7924800" cy="685800"/>
          </a:xfrm>
        </p:spPr>
        <p:txBody>
          <a:bodyPr/>
          <a:lstStyle/>
          <a:p>
            <a:r>
              <a:rPr lang="en-US" dirty="0" smtClean="0"/>
              <a:t>Creating Directives</a:t>
            </a:r>
            <a:endParaRPr lang="en-US" dirty="0"/>
          </a:p>
        </p:txBody>
      </p:sp>
      <p:pic>
        <p:nvPicPr>
          <p:cNvPr id="4098" name="Picture 2" descr="https://s3.amazonaws.com/s.accel.io/g/729/learn-to-developer-angular-directive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0521" y="2631881"/>
            <a:ext cx="5172488" cy="3103493"/>
          </a:xfrm>
          <a:prstGeom prst="roundRect">
            <a:avLst>
              <a:gd name="adj" fmla="val 6675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2977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Creating Directives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76308" y="1001916"/>
            <a:ext cx="8686800" cy="5299493"/>
          </a:xfrm>
        </p:spPr>
        <p:txBody>
          <a:bodyPr/>
          <a:lstStyle/>
          <a:p>
            <a:r>
              <a:rPr lang="en-US" dirty="0" smtClean="0"/>
              <a:t>Create directives per module</a:t>
            </a:r>
          </a:p>
          <a:p>
            <a:endParaRPr lang="en-US" dirty="0"/>
          </a:p>
          <a:p>
            <a:endParaRPr lang="en-US" dirty="0" smtClean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564543" y="1690280"/>
            <a:ext cx="7871791" cy="4678204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>
              <a:lnSpc>
                <a:spcPct val="90000"/>
              </a:lnSpc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myApp.directive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'myDirective', 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function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() 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90000"/>
              </a:lnSpc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return 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90000"/>
              </a:lnSpc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restrict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: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'E', 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//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C, A, M, CA, etc.</a:t>
            </a: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90000"/>
              </a:lnSpc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template: '&lt;div /&gt;' // or templateUrl,</a:t>
            </a: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90000"/>
              </a:lnSpc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scope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: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{ // isolated scope - &amp;, @, = },</a:t>
            </a: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90000"/>
              </a:lnSpc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link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: function(scope, element,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attr) {    </a:t>
            </a:r>
          </a:p>
          <a:p>
            <a:pPr eaLnBrk="0" hangingPunct="0">
              <a:lnSpc>
                <a:spcPct val="90000"/>
              </a:lnSpc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// put logic here,  },</a:t>
            </a:r>
          </a:p>
          <a:p>
            <a:pPr eaLnBrk="0" hangingPunct="0">
              <a:lnSpc>
                <a:spcPct val="90000"/>
              </a:lnSpc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compile: function(element, attr) { // compile },</a:t>
            </a:r>
          </a:p>
          <a:p>
            <a:pPr eaLnBrk="0" hangingPunct="0">
              <a:lnSpc>
                <a:spcPct val="90000"/>
              </a:lnSpc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replace: true, priority: 0</a:t>
            </a:r>
          </a:p>
          <a:p>
            <a:pPr eaLnBrk="0" hangingPunct="0">
              <a:lnSpc>
                <a:spcPct val="90000"/>
              </a:lnSpc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};</a:t>
            </a: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90000"/>
              </a:lnSpc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1047134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609600" y="1889761"/>
            <a:ext cx="7924800" cy="685800"/>
          </a:xfrm>
        </p:spPr>
        <p:txBody>
          <a:bodyPr/>
          <a:lstStyle/>
          <a:p>
            <a:r>
              <a:rPr lang="en-US" dirty="0" smtClean="0"/>
              <a:t>Directive </a:t>
            </a:r>
            <a:br>
              <a:rPr lang="en-US" dirty="0" smtClean="0"/>
            </a:br>
            <a:r>
              <a:rPr lang="en-US" dirty="0" smtClean="0"/>
              <a:t> Attribute Specifics</a:t>
            </a:r>
            <a:endParaRPr lang="en-US" dirty="0"/>
          </a:p>
        </p:txBody>
      </p:sp>
      <p:pic>
        <p:nvPicPr>
          <p:cNvPr id="5122" name="Picture 2" descr="http://img1.wikia.nocookie.net/__cb20110330174113/yugioh/images/0/0d/AttributeGravity-GX06-EN-VG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2731" y="3148716"/>
            <a:ext cx="2689211" cy="2689212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7555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Attribute Specifics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76308" y="1001916"/>
            <a:ext cx="8686800" cy="5299493"/>
          </a:xfrm>
        </p:spPr>
        <p:txBody>
          <a:bodyPr/>
          <a:lstStyle/>
          <a:p>
            <a:r>
              <a:rPr lang="en-US" dirty="0" smtClean="0"/>
              <a:t>Manipulating attribute</a:t>
            </a:r>
          </a:p>
          <a:p>
            <a:endParaRPr lang="en-US" dirty="0"/>
          </a:p>
          <a:p>
            <a:endParaRPr lang="en-US" dirty="0" smtClean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564543" y="1960625"/>
            <a:ext cx="7871791" cy="3816429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>
              <a:lnSpc>
                <a:spcPct val="90000"/>
              </a:lnSpc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link: function (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scope,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element, attrs) {</a:t>
            </a:r>
          </a:p>
          <a:p>
            <a:pPr eaLnBrk="0" hangingPunct="0">
              <a:lnSpc>
                <a:spcPct val="90000"/>
              </a:lnSpc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console.log(attrs.ngModel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);</a:t>
            </a:r>
          </a:p>
          <a:p>
            <a:pPr eaLnBrk="0" hangingPunct="0">
              <a:lnSpc>
                <a:spcPct val="90000"/>
              </a:lnSpc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attrs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.$set('ngModel', 'new value');</a:t>
            </a:r>
          </a:p>
          <a:p>
            <a:pPr eaLnBrk="0" hangingPunct="0">
              <a:lnSpc>
                <a:spcPct val="90000"/>
              </a:lnSpc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</a:p>
          <a:p>
            <a:pPr eaLnBrk="0" hangingPunct="0">
              <a:lnSpc>
                <a:spcPct val="90000"/>
              </a:lnSpc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// 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observe changes to interpolated attribute</a:t>
            </a:r>
          </a:p>
          <a:p>
            <a:pPr eaLnBrk="0" hangingPunct="0">
              <a:lnSpc>
                <a:spcPct val="90000"/>
              </a:lnSpc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attrs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.$observe('ngModel',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function(newVal, oldVal) 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90000"/>
              </a:lnSpc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console.log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('ngModel has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changed 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to ' + value);</a:t>
            </a:r>
          </a:p>
          <a:p>
            <a:pPr eaLnBrk="0" hangingPunct="0">
              <a:lnSpc>
                <a:spcPct val="90000"/>
              </a:lnSpc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});</a:t>
            </a: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90000"/>
              </a:lnSpc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46055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609600" y="1889761"/>
            <a:ext cx="7924800" cy="685800"/>
          </a:xfrm>
        </p:spPr>
        <p:txBody>
          <a:bodyPr/>
          <a:lstStyle/>
          <a:p>
            <a:r>
              <a:rPr lang="en-US" dirty="0" smtClean="0"/>
              <a:t>jQuery Plugins Directives</a:t>
            </a:r>
            <a:endParaRPr lang="en-US" dirty="0"/>
          </a:p>
        </p:txBody>
      </p:sp>
      <p:pic>
        <p:nvPicPr>
          <p:cNvPr id="6146" name="Picture 2" descr="http://www.crossdistinction.com/wp-content/uploads/2012/02/jquery-ui-log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0865" y="3061253"/>
            <a:ext cx="4434840" cy="221742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897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jQuery as Directive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76308" y="1001916"/>
            <a:ext cx="8686800" cy="5299493"/>
          </a:xfrm>
        </p:spPr>
        <p:txBody>
          <a:bodyPr/>
          <a:lstStyle/>
          <a:p>
            <a:r>
              <a:rPr lang="en-US" dirty="0" smtClean="0"/>
              <a:t>jQuery plugin directives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564542" y="1775959"/>
            <a:ext cx="7871791" cy="36933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>
              <a:lnSpc>
                <a:spcPct val="90000"/>
              </a:lnSpc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&lt;input type="text" date-picker /&gt;</a:t>
            </a: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564541" y="2413152"/>
            <a:ext cx="7871791" cy="338554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>
              <a:lnSpc>
                <a:spcPct val="90000"/>
              </a:lnSpc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myApp.directive(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'datePicker', 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function () {</a:t>
            </a:r>
          </a:p>
          <a:p>
            <a:pPr eaLnBrk="0" hangingPunct="0">
              <a:lnSpc>
                <a:spcPct val="90000"/>
              </a:lnSpc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return {</a:t>
            </a:r>
          </a:p>
          <a:p>
            <a:pPr eaLnBrk="0" hangingPunct="0">
              <a:lnSpc>
                <a:spcPct val="90000"/>
              </a:lnSpc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restrict: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'A', </a:t>
            </a:r>
          </a:p>
          <a:p>
            <a:pPr eaLnBrk="0" hangingPunct="0">
              <a:lnSpc>
                <a:spcPct val="90000"/>
              </a:lnSpc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link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: function(scope, element, attr) {    </a:t>
            </a:r>
          </a:p>
          <a:p>
            <a:pPr eaLnBrk="0" hangingPunct="0">
              <a:lnSpc>
                <a:spcPct val="90000"/>
              </a:lnSpc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element.datepicker();</a:t>
            </a: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90000"/>
              </a:lnSpc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},</a:t>
            </a:r>
          </a:p>
          <a:p>
            <a:pPr eaLnBrk="0" hangingPunct="0">
              <a:lnSpc>
                <a:spcPct val="90000"/>
              </a:lnSpc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};</a:t>
            </a:r>
          </a:p>
          <a:p>
            <a:pPr eaLnBrk="0" hangingPunct="0">
              <a:lnSpc>
                <a:spcPct val="90000"/>
              </a:lnSpc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792679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  <a:endParaRPr lang="bg-BG"/>
          </a:p>
        </p:txBody>
      </p:sp>
      <p:sp>
        <p:nvSpPr>
          <p:cNvPr id="434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85353" y="1860607"/>
            <a:ext cx="8686800" cy="579120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2400"/>
              </a:spcBef>
              <a:spcAft>
                <a:spcPts val="2400"/>
              </a:spcAft>
            </a:pPr>
            <a:r>
              <a:rPr lang="en-US" dirty="0" smtClean="0"/>
              <a:t>What are directives</a:t>
            </a:r>
          </a:p>
          <a:p>
            <a:pPr>
              <a:lnSpc>
                <a:spcPct val="100000"/>
              </a:lnSpc>
              <a:spcBef>
                <a:spcPts val="2400"/>
              </a:spcBef>
              <a:spcAft>
                <a:spcPts val="2400"/>
              </a:spcAft>
            </a:pPr>
            <a:r>
              <a:rPr lang="en-US" dirty="0" smtClean="0"/>
              <a:t>Create directives</a:t>
            </a:r>
          </a:p>
          <a:p>
            <a:pPr>
              <a:lnSpc>
                <a:spcPct val="100000"/>
              </a:lnSpc>
              <a:spcBef>
                <a:spcPts val="2400"/>
              </a:spcBef>
              <a:spcAft>
                <a:spcPts val="2400"/>
              </a:spcAft>
            </a:pPr>
            <a:r>
              <a:rPr lang="en-US" dirty="0" smtClean="0"/>
              <a:t>Specifics</a:t>
            </a:r>
          </a:p>
          <a:p>
            <a:pPr marL="0" indent="0">
              <a:lnSpc>
                <a:spcPct val="100000"/>
              </a:lnSpc>
              <a:spcBef>
                <a:spcPts val="2400"/>
              </a:spcBef>
              <a:spcAft>
                <a:spcPts val="2400"/>
              </a:spcAft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686800" y="6553200"/>
            <a:ext cx="4572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031733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AngularJS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067891" y="6400800"/>
            <a:ext cx="2957797" cy="369332"/>
          </a:xfrm>
        </p:spPr>
        <p:txBody>
          <a:bodyPr/>
          <a:lstStyle/>
          <a:p>
            <a:r>
              <a:rPr lang="en-US" dirty="0" smtClean="0">
                <a:hlinkClick r:id="rId2"/>
              </a:rPr>
              <a:t>http://academy.telerik.com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9078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Exercises</a:t>
            </a:r>
            <a:endParaRPr lang="bg-BG"/>
          </a:p>
        </p:txBody>
      </p:sp>
      <p:sp>
        <p:nvSpPr>
          <p:cNvPr id="425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648" y="852115"/>
            <a:ext cx="8686800" cy="5791200"/>
          </a:xfrm>
        </p:spPr>
        <p:txBody>
          <a:bodyPr/>
          <a:lstStyle/>
          <a:p>
            <a:pPr marL="450850" indent="-450850">
              <a:lnSpc>
                <a:spcPct val="100000"/>
              </a:lnSpc>
              <a:buFontTx/>
              <a:buAutoNum type="arabicPeriod"/>
            </a:pPr>
            <a:r>
              <a:rPr lang="en-US" sz="2800" dirty="0" smtClean="0"/>
              <a:t>Create </a:t>
            </a:r>
            <a:r>
              <a:rPr lang="en-US" sz="2800" dirty="0" err="1" smtClean="0"/>
              <a:t>AngularJS</a:t>
            </a:r>
            <a:r>
              <a:rPr lang="en-US" sz="2800" dirty="0" smtClean="0"/>
              <a:t> SPA client for the </a:t>
            </a:r>
            <a:r>
              <a:rPr lang="en-US" sz="2800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Tic-Tac-Toe Web API project </a:t>
            </a:r>
            <a:r>
              <a:rPr lang="en-US" sz="2800" dirty="0" smtClean="0"/>
              <a:t>used in the "Web Services and Cloud" course in lecture "Web API Architecture"</a:t>
            </a:r>
          </a:p>
          <a:p>
            <a:pPr marL="804863" lvl="1" indent="-457200">
              <a:lnSpc>
                <a:spcPct val="100000"/>
              </a:lnSpc>
            </a:pPr>
            <a:r>
              <a:rPr lang="en-US" sz="2600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Use routing </a:t>
            </a:r>
            <a:r>
              <a:rPr lang="en-US" sz="2600" dirty="0" smtClean="0"/>
              <a:t>– for every single page</a:t>
            </a:r>
          </a:p>
          <a:p>
            <a:pPr marL="804863" lvl="1" indent="-457200">
              <a:lnSpc>
                <a:spcPct val="100000"/>
              </a:lnSpc>
            </a:pPr>
            <a:r>
              <a:rPr lang="en-US" sz="2600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Use controllers </a:t>
            </a:r>
            <a:r>
              <a:rPr lang="en-US" sz="2600" dirty="0" smtClean="0"/>
              <a:t>– games, users, playing, etc.</a:t>
            </a:r>
          </a:p>
          <a:p>
            <a:pPr marL="804863" lvl="1" indent="-457200">
              <a:lnSpc>
                <a:spcPct val="100000"/>
              </a:lnSpc>
            </a:pPr>
            <a:r>
              <a:rPr lang="en-US" sz="2600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Use services </a:t>
            </a:r>
            <a:r>
              <a:rPr lang="en-US" sz="2600" dirty="0"/>
              <a:t>–</a:t>
            </a:r>
            <a:r>
              <a:rPr lang="en-US" sz="2600" dirty="0" smtClean="0"/>
              <a:t> restful usage, game logic, etc.</a:t>
            </a:r>
          </a:p>
          <a:p>
            <a:pPr marL="804863" lvl="1" indent="-457200">
              <a:lnSpc>
                <a:spcPct val="100000"/>
              </a:lnSpc>
            </a:pPr>
            <a:r>
              <a:rPr lang="en-US" sz="2600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Use filters </a:t>
            </a:r>
            <a:r>
              <a:rPr lang="en-US" sz="2600" dirty="0" smtClean="0"/>
              <a:t>– for visualization of the bindings</a:t>
            </a:r>
          </a:p>
          <a:p>
            <a:pPr marL="804863" lvl="1" indent="-457200">
              <a:lnSpc>
                <a:spcPct val="100000"/>
              </a:lnSpc>
            </a:pPr>
            <a:r>
              <a:rPr lang="en-US" sz="2600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Use directives </a:t>
            </a:r>
            <a:r>
              <a:rPr lang="en-US" sz="2600" dirty="0" smtClean="0"/>
              <a:t>– for domain specific parts of the HTML</a:t>
            </a:r>
          </a:p>
          <a:p>
            <a:pPr marL="450850" indent="-450850">
              <a:lnSpc>
                <a:spcPct val="100000"/>
              </a:lnSpc>
              <a:buFontTx/>
              <a:buAutoNum type="arabicPeriod"/>
            </a:pP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686800" y="6553200"/>
            <a:ext cx="4572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24348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lerik Academy">
  <a:themeElements>
    <a:clrScheme name="Telerik Colors Theme">
      <a:dk1>
        <a:sysClr val="windowText" lastClr="000000"/>
      </a:dk1>
      <a:lt1>
        <a:srgbClr val="CCFF66"/>
      </a:lt1>
      <a:dk2>
        <a:srgbClr val="30356E"/>
      </a:dk2>
      <a:lt2>
        <a:srgbClr val="CCFF33"/>
      </a:lt2>
      <a:accent1>
        <a:srgbClr val="CC4757"/>
      </a:accent1>
      <a:accent2>
        <a:srgbClr val="FF6F61"/>
      </a:accent2>
      <a:accent3>
        <a:srgbClr val="FF953E"/>
      </a:accent3>
      <a:accent4>
        <a:srgbClr val="F8BD52"/>
      </a:accent4>
      <a:accent5>
        <a:srgbClr val="46A6BD"/>
      </a:accent5>
      <a:accent6>
        <a:srgbClr val="5488BC"/>
      </a:accent6>
      <a:hlink>
        <a:srgbClr val="76B200"/>
      </a:hlink>
      <a:folHlink>
        <a:srgbClr val="FFCF3E"/>
      </a:folHlink>
    </a:clrScheme>
    <a:fontScheme name="Deluxe">
      <a:majorFont>
        <a:latin typeface="Corbel"/>
        <a:ea typeface=""/>
        <a:cs typeface=""/>
        <a:font script="Jpan" typeface="HGｺﾞｼｯｸM"/>
        <a:font script="Hang" typeface="HY엽서L"/>
        <a:font script="Hans" typeface="华文新魏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新魏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Deluxe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280000"/>
              </a:schemeClr>
            </a:gs>
            <a:gs pos="14000">
              <a:schemeClr val="phClr">
                <a:tint val="37000"/>
                <a:satMod val="250000"/>
              </a:schemeClr>
            </a:gs>
            <a:gs pos="45000">
              <a:schemeClr val="phClr">
                <a:tint val="53000"/>
                <a:satMod val="220000"/>
              </a:schemeClr>
            </a:gs>
            <a:gs pos="65000">
              <a:schemeClr val="phClr">
                <a:tint val="53000"/>
                <a:satMod val="220000"/>
              </a:schemeClr>
            </a:gs>
            <a:gs pos="86000">
              <a:schemeClr val="phClr">
                <a:tint val="42000"/>
                <a:satMod val="240000"/>
              </a:schemeClr>
            </a:gs>
            <a:gs pos="100000">
              <a:schemeClr val="phClr">
                <a:tint val="20000"/>
                <a:satMod val="23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0000">
              <a:schemeClr val="phClr">
                <a:satMod val="150000"/>
              </a:schemeClr>
            </a:gs>
            <a:gs pos="100000">
              <a:schemeClr val="phClr">
                <a:tint val="75000"/>
                <a:satMod val="20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atMod val="14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prstMaterial="powder">
            <a:bevelT w="152400"/>
            <a:contourClr>
              <a:schemeClr val="phClr"/>
            </a:contourClr>
          </a:sp3d>
        </a:effectStyle>
        <a:effectStyle>
          <a:effectLst>
            <a:reflection blurRad="12700" stA="26000" endPos="28000" dist="38100" dir="5400000" sy="-100000"/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prstMaterial="powder">
            <a:bevelT w="190500" h="1016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3000"/>
                <a:satMod val="1550000"/>
              </a:schemeClr>
            </a:gs>
            <a:gs pos="1000">
              <a:schemeClr val="phClr">
                <a:tint val="48000"/>
                <a:satMod val="1550000"/>
              </a:schemeClr>
            </a:gs>
            <a:gs pos="90000">
              <a:schemeClr val="phClr">
                <a:shade val="18000"/>
                <a:satMod val="275000"/>
              </a:schemeClr>
            </a:gs>
          </a:gsLst>
          <a:path path="circle">
            <a:fillToRect r="210000" b="300000"/>
          </a:path>
        </a:gradFill>
        <a:gradFill rotWithShape="1">
          <a:gsLst>
            <a:gs pos="5000">
              <a:schemeClr val="phClr">
                <a:tint val="38000"/>
                <a:satMod val="1800000"/>
              </a:schemeClr>
            </a:gs>
            <a:gs pos="5000">
              <a:schemeClr val="phClr">
                <a:tint val="40000"/>
                <a:satMod val="1800000"/>
              </a:schemeClr>
            </a:gs>
            <a:gs pos="90000">
              <a:schemeClr val="phClr">
                <a:shade val="18000"/>
                <a:satMod val="275000"/>
              </a:schemeClr>
            </a:gs>
          </a:gsLst>
          <a:path path="circle">
            <a:fillToRect l="20000" t="30000" r="135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Telerik Academy</Template>
  <TotalTime>7704</TotalTime>
  <Words>426</Words>
  <Application>Microsoft Office PowerPoint</Application>
  <PresentationFormat>On-screen Show (4:3)</PresentationFormat>
  <Paragraphs>80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Calibri</vt:lpstr>
      <vt:lpstr>Cambria</vt:lpstr>
      <vt:lpstr>Consolas</vt:lpstr>
      <vt:lpstr>Corbel</vt:lpstr>
      <vt:lpstr>Wingdings 2</vt:lpstr>
      <vt:lpstr>Telerik Academy</vt:lpstr>
      <vt:lpstr>Directives</vt:lpstr>
      <vt:lpstr>Table of Contents</vt:lpstr>
      <vt:lpstr>What Is a Directive</vt:lpstr>
      <vt:lpstr>What Is a Directive</vt:lpstr>
      <vt:lpstr>What Is a Directive</vt:lpstr>
      <vt:lpstr>Creating Directives</vt:lpstr>
      <vt:lpstr>Creating Directives</vt:lpstr>
      <vt:lpstr>Directive   Attribute Specifics</vt:lpstr>
      <vt:lpstr>Attribute Specifics</vt:lpstr>
      <vt:lpstr>jQuery Plugins Directives</vt:lpstr>
      <vt:lpstr>jQuery as Directive</vt:lpstr>
      <vt:lpstr>Summary</vt:lpstr>
      <vt:lpstr>AngularJS</vt:lpstr>
      <vt:lpstr>Exercises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Doncho Minkov</dc:creator>
  <cp:lastModifiedBy>Microsoft account</cp:lastModifiedBy>
  <cp:revision>706</cp:revision>
  <dcterms:created xsi:type="dcterms:W3CDTF">2013-08-27T10:58:23Z</dcterms:created>
  <dcterms:modified xsi:type="dcterms:W3CDTF">2015-12-09T10:09:25Z</dcterms:modified>
</cp:coreProperties>
</file>